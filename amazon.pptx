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50F9FA-E6A6-46BC-9384-E02B7381F36E}" v="1613" dt="2026-01-25T17:27:04.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937057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831149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664001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791917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58545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554235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841716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771922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240003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850138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1/25/2026</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956925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1/25/2026</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0918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5101733-A021-44D6-BE4E-2D908CFF5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60546" y="2035968"/>
            <a:ext cx="5814061" cy="2000489"/>
          </a:xfrm>
        </p:spPr>
        <p:txBody>
          <a:bodyPr>
            <a:normAutofit/>
          </a:bodyPr>
          <a:lstStyle/>
          <a:p>
            <a:r>
              <a:rPr lang="en-GB" sz="6000" dirty="0">
                <a:solidFill>
                  <a:schemeClr val="tx1"/>
                </a:solidFill>
              </a:rPr>
              <a:t>   Amazon </a:t>
            </a:r>
          </a:p>
        </p:txBody>
      </p:sp>
      <p:sp>
        <p:nvSpPr>
          <p:cNvPr id="3" name="Subtitle 2"/>
          <p:cNvSpPr>
            <a:spLocks noGrp="1"/>
          </p:cNvSpPr>
          <p:nvPr>
            <p:ph type="subTitle" idx="1"/>
          </p:nvPr>
        </p:nvSpPr>
        <p:spPr>
          <a:xfrm>
            <a:off x="567186" y="4846083"/>
            <a:ext cx="5140670" cy="1283255"/>
          </a:xfrm>
        </p:spPr>
        <p:txBody>
          <a:bodyPr vert="horz" lIns="91440" tIns="45720" rIns="91440" bIns="45720" rtlCol="0">
            <a:normAutofit/>
          </a:bodyPr>
          <a:lstStyle/>
          <a:p>
            <a:r>
              <a:rPr lang="en-GB" sz="2800" dirty="0"/>
              <a:t>     </a:t>
            </a:r>
            <a:r>
              <a:rPr lang="en-GB" sz="2800" b="1" dirty="0"/>
              <a:t>Pooja Dhameliya </a:t>
            </a:r>
          </a:p>
        </p:txBody>
      </p:sp>
      <p:cxnSp>
        <p:nvCxnSpPr>
          <p:cNvPr id="24" name="Straight Connector 23">
            <a:extLst>
              <a:ext uri="{FF2B5EF4-FFF2-40B4-BE49-F238E27FC236}">
                <a16:creationId xmlns:a16="http://schemas.microsoft.com/office/drawing/2014/main" id="{6F4598CC-172A-48F9-9A7C-3E3E635F6C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87A0454-7A54-450D-9B36-0C5378D020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white and yellow building with black text on it&#10;&#10;AI-generated content may be incorrect.">
            <a:extLst>
              <a:ext uri="{FF2B5EF4-FFF2-40B4-BE49-F238E27FC236}">
                <a16:creationId xmlns:a16="http://schemas.microsoft.com/office/drawing/2014/main" id="{DBC2FC22-8408-93D6-FB37-53F41A27BD85}"/>
              </a:ext>
            </a:extLst>
          </p:cNvPr>
          <p:cNvPicPr>
            <a:picLocks noChangeAspect="1"/>
          </p:cNvPicPr>
          <p:nvPr/>
        </p:nvPicPr>
        <p:blipFill>
          <a:blip r:embed="rId2"/>
          <a:stretch>
            <a:fillRect/>
          </a:stretch>
        </p:blipFill>
        <p:spPr>
          <a:xfrm>
            <a:off x="5869781" y="795338"/>
            <a:ext cx="6322218" cy="556498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D57F-8EC9-43AC-DEEF-B7F3C0A80438}"/>
              </a:ext>
            </a:extLst>
          </p:cNvPr>
          <p:cNvSpPr>
            <a:spLocks noGrp="1"/>
          </p:cNvSpPr>
          <p:nvPr>
            <p:ph type="title"/>
          </p:nvPr>
        </p:nvSpPr>
        <p:spPr/>
        <p:txBody>
          <a:bodyPr>
            <a:normAutofit/>
          </a:bodyPr>
          <a:lstStyle/>
          <a:p>
            <a:r>
              <a:rPr lang="en-GB" sz="4800" b="1" dirty="0">
                <a:solidFill>
                  <a:schemeClr val="tx1"/>
                </a:solidFill>
              </a:rPr>
              <a:t>                        Objective</a:t>
            </a:r>
          </a:p>
        </p:txBody>
      </p:sp>
      <p:pic>
        <p:nvPicPr>
          <p:cNvPr id="4" name="Content Placeholder 3" descr="A black and orange logo&#10;&#10;AI-generated content may be incorrect.">
            <a:extLst>
              <a:ext uri="{FF2B5EF4-FFF2-40B4-BE49-F238E27FC236}">
                <a16:creationId xmlns:a16="http://schemas.microsoft.com/office/drawing/2014/main" id="{3A06EC59-0E10-CF5A-190A-89BAD8CEE35E}"/>
              </a:ext>
            </a:extLst>
          </p:cNvPr>
          <p:cNvPicPr>
            <a:picLocks noGrp="1" noChangeAspect="1"/>
          </p:cNvPicPr>
          <p:nvPr>
            <p:ph idx="1"/>
          </p:nvPr>
        </p:nvPicPr>
        <p:blipFill>
          <a:blip r:embed="rId2"/>
          <a:stretch>
            <a:fillRect/>
          </a:stretch>
        </p:blipFill>
        <p:spPr>
          <a:xfrm>
            <a:off x="969827" y="950524"/>
            <a:ext cx="1685025" cy="1024207"/>
          </a:xfrm>
          <a:prstGeom prst="rect">
            <a:avLst/>
          </a:prstGeom>
        </p:spPr>
      </p:pic>
      <p:sp>
        <p:nvSpPr>
          <p:cNvPr id="7" name="TextBox 6">
            <a:extLst>
              <a:ext uri="{FF2B5EF4-FFF2-40B4-BE49-F238E27FC236}">
                <a16:creationId xmlns:a16="http://schemas.microsoft.com/office/drawing/2014/main" id="{326C94BF-5352-C12A-51EA-9DA903650A05}"/>
              </a:ext>
            </a:extLst>
          </p:cNvPr>
          <p:cNvSpPr txBox="1"/>
          <p:nvPr/>
        </p:nvSpPr>
        <p:spPr>
          <a:xfrm>
            <a:off x="967466" y="1894621"/>
            <a:ext cx="10722753"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latin typeface="Aptos"/>
              </a:rPr>
              <a:t>The</a:t>
            </a:r>
            <a:r>
              <a:rPr lang="en-GB" sz="2800" dirty="0">
                <a:latin typeface="Aptos"/>
                <a:ea typeface="+mn-lt"/>
                <a:cs typeface="+mn-lt"/>
              </a:rPr>
              <a:t> objective of this project is to </a:t>
            </a:r>
            <a:r>
              <a:rPr lang="en-GB" sz="2800" err="1">
                <a:latin typeface="Aptos"/>
                <a:ea typeface="+mn-lt"/>
                <a:cs typeface="+mn-lt"/>
              </a:rPr>
              <a:t>analyze</a:t>
            </a:r>
            <a:r>
              <a:rPr lang="en-GB" sz="2800" dirty="0">
                <a:latin typeface="Aptos"/>
                <a:ea typeface="+mn-lt"/>
                <a:cs typeface="+mn-lt"/>
              </a:rPr>
              <a:t> Amazon product and customer review data using SQL queries. As a data analyst at Amazon, the goal is to extract meaningful insights by filtering, comparing, and evaluating products based on key attributes such as pricing, discount percentages, product categories, and customer review content. This analysis helps identify product performance trends, customer preferences, and pricing patterns, supporting data-driven decision-making and improving overall business strategy.</a:t>
            </a:r>
            <a:endParaRPr lang="en-GB" sz="2800" dirty="0">
              <a:latin typeface="Aptos"/>
            </a:endParaRPr>
          </a:p>
        </p:txBody>
      </p:sp>
    </p:spTree>
    <p:extLst>
      <p:ext uri="{BB962C8B-B14F-4D97-AF65-F5344CB8AC3E}">
        <p14:creationId xmlns:p14="http://schemas.microsoft.com/office/powerpoint/2010/main" val="2427197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5D66-98E9-91F0-17D4-46E3DB393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3E148-2DF8-09D4-AC3E-9D2F5A92F455}"/>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Problem Statement</a:t>
            </a:r>
          </a:p>
        </p:txBody>
      </p:sp>
      <p:pic>
        <p:nvPicPr>
          <p:cNvPr id="4" name="Content Placeholder 3" descr="A black and orange logo&#10;&#10;AI-generated content may be incorrect.">
            <a:extLst>
              <a:ext uri="{FF2B5EF4-FFF2-40B4-BE49-F238E27FC236}">
                <a16:creationId xmlns:a16="http://schemas.microsoft.com/office/drawing/2014/main" id="{0DEE9A88-32AC-69B0-FA8D-3EC10B7A85C2}"/>
              </a:ext>
            </a:extLst>
          </p:cNvPr>
          <p:cNvPicPr>
            <a:picLocks noGrp="1" noChangeAspect="1"/>
          </p:cNvPicPr>
          <p:nvPr>
            <p:ph idx="1"/>
          </p:nvPr>
        </p:nvPicPr>
        <p:blipFill>
          <a:blip r:embed="rId2"/>
          <a:stretch>
            <a:fillRect/>
          </a:stretch>
        </p:blipFill>
        <p:spPr>
          <a:xfrm>
            <a:off x="969827" y="950524"/>
            <a:ext cx="1685025" cy="1024207"/>
          </a:xfrm>
          <a:prstGeom prst="rect">
            <a:avLst/>
          </a:prstGeom>
        </p:spPr>
      </p:pic>
      <p:sp>
        <p:nvSpPr>
          <p:cNvPr id="7" name="TextBox 6">
            <a:extLst>
              <a:ext uri="{FF2B5EF4-FFF2-40B4-BE49-F238E27FC236}">
                <a16:creationId xmlns:a16="http://schemas.microsoft.com/office/drawing/2014/main" id="{9F899AB7-E6C1-DA95-DF76-35D746AF1309}"/>
              </a:ext>
            </a:extLst>
          </p:cNvPr>
          <p:cNvSpPr txBox="1"/>
          <p:nvPr/>
        </p:nvSpPr>
        <p:spPr>
          <a:xfrm>
            <a:off x="967466" y="1942245"/>
            <a:ext cx="10782284"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ea typeface="+mn-lt"/>
                <a:cs typeface="+mn-lt"/>
              </a:rPr>
              <a:t>1. List all products with a discounted price below ₹500.</a:t>
            </a:r>
            <a:endParaRPr lang="en-US" sz="2000" b="1">
              <a:ea typeface="+mn-lt"/>
              <a:cs typeface="+mn-lt"/>
            </a:endParaRPr>
          </a:p>
          <a:p>
            <a:r>
              <a:rPr lang="en-GB" sz="2000" b="1" dirty="0">
                <a:ea typeface="+mn-lt"/>
                <a:cs typeface="+mn-lt"/>
              </a:rPr>
              <a:t>2. Find products with a discount percentage of 50% or more. </a:t>
            </a:r>
            <a:endParaRPr lang="en-US" sz="2000" b="1">
              <a:ea typeface="+mn-lt"/>
              <a:cs typeface="+mn-lt"/>
            </a:endParaRPr>
          </a:p>
          <a:p>
            <a:r>
              <a:rPr lang="en-GB" sz="2000" b="1" dirty="0">
                <a:ea typeface="+mn-lt"/>
                <a:cs typeface="+mn-lt"/>
              </a:rPr>
              <a:t>3. Retrieve all products where the name contains the word "Cable." </a:t>
            </a:r>
            <a:endParaRPr lang="en-US" sz="2000" b="1">
              <a:ea typeface="+mn-lt"/>
              <a:cs typeface="+mn-lt"/>
            </a:endParaRPr>
          </a:p>
          <a:p>
            <a:r>
              <a:rPr lang="en-GB" sz="2000" b="1" dirty="0">
                <a:ea typeface="+mn-lt"/>
                <a:cs typeface="+mn-lt"/>
              </a:rPr>
              <a:t>4. Display the difference between the average of the actual price and the average of    discounted price for each product.  </a:t>
            </a:r>
            <a:endParaRPr lang="en-US" sz="2000" b="1">
              <a:ea typeface="+mn-lt"/>
              <a:cs typeface="+mn-lt"/>
            </a:endParaRPr>
          </a:p>
          <a:p>
            <a:r>
              <a:rPr lang="en-GB" sz="2000" b="1" dirty="0">
                <a:ea typeface="+mn-lt"/>
                <a:cs typeface="+mn-lt"/>
              </a:rPr>
              <a:t>5. Query reviews that mention "fast charging" in their content. </a:t>
            </a:r>
            <a:endParaRPr lang="en-US" sz="2000" b="1">
              <a:ea typeface="+mn-lt"/>
              <a:cs typeface="+mn-lt"/>
            </a:endParaRPr>
          </a:p>
          <a:p>
            <a:r>
              <a:rPr lang="en-GB" sz="2000" b="1" dirty="0">
                <a:ea typeface="+mn-lt"/>
                <a:cs typeface="+mn-lt"/>
              </a:rPr>
              <a:t>6. Identify products with a discount percentage between 20% and 40%.</a:t>
            </a:r>
            <a:endParaRPr lang="en-US" sz="2000" b="1">
              <a:ea typeface="+mn-lt"/>
              <a:cs typeface="+mn-lt"/>
            </a:endParaRPr>
          </a:p>
          <a:p>
            <a:r>
              <a:rPr lang="en-GB" sz="2000" b="1" dirty="0">
                <a:ea typeface="+mn-lt"/>
                <a:cs typeface="+mn-lt"/>
              </a:rPr>
              <a:t>7. Find products that have an actual price above₹1,000 and are rated 4 stars or above. </a:t>
            </a:r>
            <a:endParaRPr lang="en-US" sz="2000" b="1">
              <a:ea typeface="+mn-lt"/>
              <a:cs typeface="+mn-lt"/>
            </a:endParaRPr>
          </a:p>
          <a:p>
            <a:r>
              <a:rPr lang="en-GB" sz="2000" b="1" dirty="0">
                <a:ea typeface="+mn-lt"/>
                <a:cs typeface="+mn-lt"/>
              </a:rPr>
              <a:t>8. Find products where the discounted price ends with a 9 ? </a:t>
            </a:r>
            <a:endParaRPr lang="en-US" sz="2000" b="1">
              <a:ea typeface="+mn-lt"/>
              <a:cs typeface="+mn-lt"/>
            </a:endParaRPr>
          </a:p>
          <a:p>
            <a:r>
              <a:rPr lang="en-GB" sz="2000" b="1" dirty="0">
                <a:ea typeface="+mn-lt"/>
                <a:cs typeface="+mn-lt"/>
              </a:rPr>
              <a:t>9. Display review contents that contains words like worst, waste, poor, or not good. </a:t>
            </a:r>
            <a:endParaRPr lang="en-US" sz="2000" b="1">
              <a:ea typeface="+mn-lt"/>
              <a:cs typeface="+mn-lt"/>
            </a:endParaRPr>
          </a:p>
          <a:p>
            <a:r>
              <a:rPr lang="en-GB" sz="2000" b="1" dirty="0">
                <a:ea typeface="+mn-lt"/>
                <a:cs typeface="+mn-lt"/>
              </a:rPr>
              <a:t>10.List all products where the category includes "Accessories."</a:t>
            </a:r>
            <a:endParaRPr lang="en-US" sz="2000" b="1" dirty="0"/>
          </a:p>
        </p:txBody>
      </p:sp>
    </p:spTree>
    <p:extLst>
      <p:ext uri="{BB962C8B-B14F-4D97-AF65-F5344CB8AC3E}">
        <p14:creationId xmlns:p14="http://schemas.microsoft.com/office/powerpoint/2010/main" val="3324704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3A6C1-BF09-46F1-6F1F-AA464B8F0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77993-67E6-42D5-D257-338D1BB1CCD7}"/>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Dataset </a:t>
            </a:r>
          </a:p>
        </p:txBody>
      </p:sp>
      <p:pic>
        <p:nvPicPr>
          <p:cNvPr id="4" name="Content Placeholder 3" descr="A black and orange logo&#10;&#10;AI-generated content may be incorrect.">
            <a:extLst>
              <a:ext uri="{FF2B5EF4-FFF2-40B4-BE49-F238E27FC236}">
                <a16:creationId xmlns:a16="http://schemas.microsoft.com/office/drawing/2014/main" id="{FD876318-A390-C507-FCF4-F0F2369383FF}"/>
              </a:ext>
            </a:extLst>
          </p:cNvPr>
          <p:cNvPicPr>
            <a:picLocks noGrp="1" noChangeAspect="1"/>
          </p:cNvPicPr>
          <p:nvPr>
            <p:ph idx="1"/>
          </p:nvPr>
        </p:nvPicPr>
        <p:blipFill>
          <a:blip r:embed="rId2"/>
          <a:stretch>
            <a:fillRect/>
          </a:stretch>
        </p:blipFill>
        <p:spPr>
          <a:xfrm>
            <a:off x="969827" y="950524"/>
            <a:ext cx="1685025" cy="102420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5CED68CC-F803-B0FE-8A6B-C2D10A2D3331}"/>
              </a:ext>
            </a:extLst>
          </p:cNvPr>
          <p:cNvPicPr>
            <a:picLocks noChangeAspect="1"/>
          </p:cNvPicPr>
          <p:nvPr/>
        </p:nvPicPr>
        <p:blipFill>
          <a:blip r:embed="rId3"/>
          <a:stretch>
            <a:fillRect/>
          </a:stretch>
        </p:blipFill>
        <p:spPr>
          <a:xfrm>
            <a:off x="974965" y="1953524"/>
            <a:ext cx="2837731" cy="4216160"/>
          </a:xfrm>
          <a:prstGeom prst="rect">
            <a:avLst/>
          </a:prstGeom>
        </p:spPr>
      </p:pic>
      <p:sp>
        <p:nvSpPr>
          <p:cNvPr id="6" name="TextBox 5">
            <a:extLst>
              <a:ext uri="{FF2B5EF4-FFF2-40B4-BE49-F238E27FC236}">
                <a16:creationId xmlns:a16="http://schemas.microsoft.com/office/drawing/2014/main" id="{3AC8A8E4-7C76-A325-29A4-450A59E32A3F}"/>
              </a:ext>
            </a:extLst>
          </p:cNvPr>
          <p:cNvSpPr txBox="1"/>
          <p:nvPr/>
        </p:nvSpPr>
        <p:spPr>
          <a:xfrm>
            <a:off x="4051266" y="1963337"/>
            <a:ext cx="74850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dirty="0">
                <a:solidFill>
                  <a:schemeClr val="bg1"/>
                </a:solidFill>
              </a:rPr>
              <a:t>Column in "mytable" Table</a:t>
            </a:r>
          </a:p>
          <a:p>
            <a:pPr marL="457200" indent="-457200">
              <a:buFont typeface="Arial"/>
              <a:buChar char="•"/>
            </a:pPr>
            <a:r>
              <a:rPr lang="en-GB" sz="2800" b="1" dirty="0"/>
              <a:t>Column in "</a:t>
            </a:r>
            <a:r>
              <a:rPr lang="en-GB" sz="2800" b="1" dirty="0" err="1"/>
              <a:t>mytable</a:t>
            </a:r>
            <a:r>
              <a:rPr lang="en-GB" sz="2800" b="1" dirty="0"/>
              <a:t>" table</a:t>
            </a:r>
          </a:p>
          <a:p>
            <a:pPr marL="457200" indent="-457200">
              <a:buFont typeface="Arial"/>
              <a:buChar char="•"/>
            </a:pPr>
            <a:r>
              <a:rPr lang="en-GB" sz="2800" b="1" dirty="0"/>
              <a:t>Total number of columns available in "</a:t>
            </a:r>
            <a:r>
              <a:rPr lang="en-GB" sz="2800" b="1" err="1"/>
              <a:t>mytable</a:t>
            </a:r>
            <a:r>
              <a:rPr lang="en-GB" sz="2800" b="1" dirty="0"/>
              <a:t>" table</a:t>
            </a:r>
          </a:p>
          <a:p>
            <a:pPr marL="457200" indent="-457200">
              <a:buFont typeface="Arial"/>
              <a:buChar char="•"/>
            </a:pPr>
            <a:endParaRPr lang="en-GB" sz="2800" b="1" dirty="0"/>
          </a:p>
        </p:txBody>
      </p:sp>
    </p:spTree>
    <p:extLst>
      <p:ext uri="{BB962C8B-B14F-4D97-AF65-F5344CB8AC3E}">
        <p14:creationId xmlns:p14="http://schemas.microsoft.com/office/powerpoint/2010/main" val="827267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D61BD-15DB-B017-D3ED-7EBBFC726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D63D6-F4CA-0A8B-7A65-A8136C129248}"/>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39BBD4DB-0AA7-E82D-DA5B-4F40ED30A5B1}"/>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69C594AA-9738-D97A-1E1F-AFD85BC4FA0B}"/>
              </a:ext>
            </a:extLst>
          </p:cNvPr>
          <p:cNvSpPr txBox="1"/>
          <p:nvPr/>
        </p:nvSpPr>
        <p:spPr>
          <a:xfrm>
            <a:off x="1777090" y="1001652"/>
            <a:ext cx="982978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1. List all products with a discounted price below ₹500.</a:t>
            </a:r>
            <a:endParaRPr lang="en-US" sz="2400" b="1">
              <a:ea typeface="+mn-lt"/>
              <a:cs typeface="+mn-lt"/>
            </a:endParaRPr>
          </a:p>
          <a:p>
            <a:endParaRPr lang="en-GB" sz="2000" b="1" dirty="0"/>
          </a:p>
        </p:txBody>
      </p:sp>
      <p:pic>
        <p:nvPicPr>
          <p:cNvPr id="3" name="Picture 2" descr="A screenshot of a computer code&#10;&#10;AI-generated content may be incorrect.">
            <a:extLst>
              <a:ext uri="{FF2B5EF4-FFF2-40B4-BE49-F238E27FC236}">
                <a16:creationId xmlns:a16="http://schemas.microsoft.com/office/drawing/2014/main" id="{7E0E5FF6-A993-E0D6-35EC-FB23BA8DC36B}"/>
              </a:ext>
            </a:extLst>
          </p:cNvPr>
          <p:cNvPicPr>
            <a:picLocks noChangeAspect="1"/>
          </p:cNvPicPr>
          <p:nvPr/>
        </p:nvPicPr>
        <p:blipFill>
          <a:blip r:embed="rId3"/>
          <a:stretch>
            <a:fillRect/>
          </a:stretch>
        </p:blipFill>
        <p:spPr>
          <a:xfrm>
            <a:off x="510172" y="1775514"/>
            <a:ext cx="4673989" cy="2139261"/>
          </a:xfrm>
          <a:prstGeom prst="rect">
            <a:avLst/>
          </a:prstGeom>
          <a:ln>
            <a:solidFill>
              <a:schemeClr val="accent3"/>
            </a:solidFill>
            <a:prstDash val="solid"/>
          </a:ln>
        </p:spPr>
      </p:pic>
      <p:pic>
        <p:nvPicPr>
          <p:cNvPr id="5" name="Picture 4" descr="A screenshot of a computer&#10;&#10;AI-generated content may be incorrect.">
            <a:extLst>
              <a:ext uri="{FF2B5EF4-FFF2-40B4-BE49-F238E27FC236}">
                <a16:creationId xmlns:a16="http://schemas.microsoft.com/office/drawing/2014/main" id="{3CC6F5DF-D488-DB92-21FA-15574EAB218A}"/>
              </a:ext>
            </a:extLst>
          </p:cNvPr>
          <p:cNvPicPr>
            <a:picLocks noChangeAspect="1"/>
          </p:cNvPicPr>
          <p:nvPr/>
        </p:nvPicPr>
        <p:blipFill>
          <a:blip r:embed="rId4"/>
          <a:stretch>
            <a:fillRect/>
          </a:stretch>
        </p:blipFill>
        <p:spPr>
          <a:xfrm>
            <a:off x="6041231" y="3686175"/>
            <a:ext cx="5110162" cy="2581275"/>
          </a:xfrm>
          <a:prstGeom prst="rect">
            <a:avLst/>
          </a:prstGeom>
          <a:ln>
            <a:solidFill>
              <a:schemeClr val="accent4"/>
            </a:solidFill>
          </a:ln>
        </p:spPr>
      </p:pic>
      <p:sp>
        <p:nvSpPr>
          <p:cNvPr id="6" name="TextBox 5">
            <a:extLst>
              <a:ext uri="{FF2B5EF4-FFF2-40B4-BE49-F238E27FC236}">
                <a16:creationId xmlns:a16="http://schemas.microsoft.com/office/drawing/2014/main" id="{48CE20E6-E2B5-C71D-F4E3-921AC035ACC0}"/>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EDBD8FF8-0D27-38B5-8CDE-7EE26F9003E5}"/>
              </a:ext>
            </a:extLst>
          </p:cNvPr>
          <p:cNvSpPr txBox="1"/>
          <p:nvPr/>
        </p:nvSpPr>
        <p:spPr>
          <a:xfrm>
            <a:off x="6043007" y="1726064"/>
            <a:ext cx="49792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576 products whose discounted price was below 500. </a:t>
            </a:r>
            <a:endParaRPr lang="en-GB" sz="2400" b="1" dirty="0"/>
          </a:p>
        </p:txBody>
      </p:sp>
      <p:sp>
        <p:nvSpPr>
          <p:cNvPr id="10" name="TextBox 9">
            <a:extLst>
              <a:ext uri="{FF2B5EF4-FFF2-40B4-BE49-F238E27FC236}">
                <a16:creationId xmlns:a16="http://schemas.microsoft.com/office/drawing/2014/main" id="{97737D39-B864-5BD2-223F-C3FC62F8CEC7}"/>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34BA5330-0DC2-9865-7D83-23C6488FBCCA}"/>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831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3ED0B-83AD-DBE7-8C2D-8AA0496B6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11F59-A1D5-C322-156E-99BF8A2FF301}"/>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C0E54F72-CD4A-0AA8-55BB-AA59227C8914}"/>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DAB94157-C17C-5AEA-9954-FF52F42187D0}"/>
              </a:ext>
            </a:extLst>
          </p:cNvPr>
          <p:cNvSpPr txBox="1"/>
          <p:nvPr/>
        </p:nvSpPr>
        <p:spPr>
          <a:xfrm>
            <a:off x="1777090" y="1001652"/>
            <a:ext cx="9829786"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2.  Find products with a discount percentage of 50% or more. </a:t>
            </a:r>
          </a:p>
          <a:p>
            <a:endParaRPr lang="en-GB" sz="2400" b="1" dirty="0">
              <a:ea typeface="+mn-lt"/>
              <a:cs typeface="+mn-lt"/>
            </a:endParaRPr>
          </a:p>
          <a:p>
            <a:endParaRPr lang="en-GB" sz="2000" b="1" dirty="0"/>
          </a:p>
        </p:txBody>
      </p:sp>
      <p:pic>
        <p:nvPicPr>
          <p:cNvPr id="5" name="Picture 4" descr="A screenshot of a computer&#10;&#10;AI-generated content may be incorrect.">
            <a:extLst>
              <a:ext uri="{FF2B5EF4-FFF2-40B4-BE49-F238E27FC236}">
                <a16:creationId xmlns:a16="http://schemas.microsoft.com/office/drawing/2014/main" id="{7DA28B48-F1DD-9A31-4BA9-F1AD3CBD5221}"/>
              </a:ext>
            </a:extLst>
          </p:cNvPr>
          <p:cNvPicPr>
            <a:picLocks noChangeAspect="1"/>
          </p:cNvPicPr>
          <p:nvPr/>
        </p:nvPicPr>
        <p:blipFill>
          <a:blip r:embed="rId3"/>
          <a:stretch>
            <a:fillRect/>
          </a:stretch>
        </p:blipFill>
        <p:spPr>
          <a:xfrm>
            <a:off x="6053137" y="3686175"/>
            <a:ext cx="4752975" cy="2581275"/>
          </a:xfrm>
          <a:prstGeom prst="rect">
            <a:avLst/>
          </a:prstGeom>
          <a:ln>
            <a:solidFill>
              <a:schemeClr val="accent4"/>
            </a:solidFill>
          </a:ln>
        </p:spPr>
      </p:pic>
      <p:sp>
        <p:nvSpPr>
          <p:cNvPr id="9" name="TextBox 8">
            <a:extLst>
              <a:ext uri="{FF2B5EF4-FFF2-40B4-BE49-F238E27FC236}">
                <a16:creationId xmlns:a16="http://schemas.microsoft.com/office/drawing/2014/main" id="{0BD2AD7A-5CF7-F617-6F0D-78A5CFDF0E29}"/>
              </a:ext>
            </a:extLst>
          </p:cNvPr>
          <p:cNvSpPr txBox="1"/>
          <p:nvPr/>
        </p:nvSpPr>
        <p:spPr>
          <a:xfrm>
            <a:off x="6060251" y="1712927"/>
            <a:ext cx="5056047" cy="1247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751 number of products whose discount percentage of 50% or more</a:t>
            </a:r>
            <a:endParaRPr lang="en-GB" sz="2400" b="1" dirty="0"/>
          </a:p>
        </p:txBody>
      </p:sp>
      <p:sp>
        <p:nvSpPr>
          <p:cNvPr id="10" name="TextBox 9">
            <a:extLst>
              <a:ext uri="{FF2B5EF4-FFF2-40B4-BE49-F238E27FC236}">
                <a16:creationId xmlns:a16="http://schemas.microsoft.com/office/drawing/2014/main" id="{6C2F7B1E-ADAC-81BD-E43B-3436097AD443}"/>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0BF953B7-8E9D-92D1-F53E-1EEE04DA1C14}"/>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8" name="Picture 7" descr="A screenshot of a computer code&#10;&#10;AI-generated content may be incorrect.">
            <a:extLst>
              <a:ext uri="{FF2B5EF4-FFF2-40B4-BE49-F238E27FC236}">
                <a16:creationId xmlns:a16="http://schemas.microsoft.com/office/drawing/2014/main" id="{784E9CAB-5A41-E67A-1B7A-89603D9B022F}"/>
              </a:ext>
            </a:extLst>
          </p:cNvPr>
          <p:cNvPicPr>
            <a:picLocks noChangeAspect="1"/>
          </p:cNvPicPr>
          <p:nvPr/>
        </p:nvPicPr>
        <p:blipFill>
          <a:blip r:embed="rId4"/>
          <a:stretch>
            <a:fillRect/>
          </a:stretch>
        </p:blipFill>
        <p:spPr>
          <a:xfrm>
            <a:off x="495299" y="1820260"/>
            <a:ext cx="5105400" cy="2324100"/>
          </a:xfrm>
          <a:prstGeom prst="rect">
            <a:avLst/>
          </a:prstGeom>
        </p:spPr>
      </p:pic>
      <p:pic>
        <p:nvPicPr>
          <p:cNvPr id="12" name="Picture 11" descr="A white background with black text&#10;&#10;AI-generated content may be incorrect.">
            <a:extLst>
              <a:ext uri="{FF2B5EF4-FFF2-40B4-BE49-F238E27FC236}">
                <a16:creationId xmlns:a16="http://schemas.microsoft.com/office/drawing/2014/main" id="{DB8D7F4D-3AE1-7790-5C37-754130EFEB88}"/>
              </a:ext>
            </a:extLst>
          </p:cNvPr>
          <p:cNvPicPr>
            <a:picLocks noChangeAspect="1"/>
          </p:cNvPicPr>
          <p:nvPr/>
        </p:nvPicPr>
        <p:blipFill>
          <a:blip r:embed="rId5"/>
          <a:stretch>
            <a:fillRect/>
          </a:stretch>
        </p:blipFill>
        <p:spPr>
          <a:xfrm>
            <a:off x="544402" y="1825023"/>
            <a:ext cx="5048251" cy="2314575"/>
          </a:xfrm>
          <a:prstGeom prst="rect">
            <a:avLst/>
          </a:prstGeom>
          <a:ln>
            <a:solidFill>
              <a:schemeClr val="accent3"/>
            </a:solidFill>
          </a:ln>
        </p:spPr>
      </p:pic>
      <p:pic>
        <p:nvPicPr>
          <p:cNvPr id="14" name="Picture 13" descr="A screenshot of a computer&#10;&#10;AI-generated content may be incorrect.">
            <a:extLst>
              <a:ext uri="{FF2B5EF4-FFF2-40B4-BE49-F238E27FC236}">
                <a16:creationId xmlns:a16="http://schemas.microsoft.com/office/drawing/2014/main" id="{75C4FF8E-E44A-7355-6C04-5FE7BFB0997D}"/>
              </a:ext>
            </a:extLst>
          </p:cNvPr>
          <p:cNvPicPr>
            <a:picLocks noChangeAspect="1"/>
          </p:cNvPicPr>
          <p:nvPr/>
        </p:nvPicPr>
        <p:blipFill>
          <a:blip r:embed="rId6"/>
          <a:stretch>
            <a:fillRect/>
          </a:stretch>
        </p:blipFill>
        <p:spPr>
          <a:xfrm>
            <a:off x="6035482" y="3663840"/>
            <a:ext cx="5296969" cy="2616502"/>
          </a:xfrm>
          <a:prstGeom prst="rect">
            <a:avLst/>
          </a:prstGeom>
          <a:ln>
            <a:solidFill>
              <a:schemeClr val="accent3"/>
            </a:solidFill>
          </a:ln>
        </p:spPr>
      </p:pic>
    </p:spTree>
    <p:extLst>
      <p:ext uri="{BB962C8B-B14F-4D97-AF65-F5344CB8AC3E}">
        <p14:creationId xmlns:p14="http://schemas.microsoft.com/office/powerpoint/2010/main" val="3792111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A2704-A4A5-DC93-B43A-0469CF786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F9BC4-7D39-6520-4320-05BDB73F80BD}"/>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662D7A77-83CD-2B9C-3FDE-AC63BC11854C}"/>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4359E0DE-9ABD-83C7-30E8-453DB87539F6}"/>
              </a:ext>
            </a:extLst>
          </p:cNvPr>
          <p:cNvSpPr txBox="1"/>
          <p:nvPr/>
        </p:nvSpPr>
        <p:spPr>
          <a:xfrm>
            <a:off x="1777090" y="1001652"/>
            <a:ext cx="982978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3. Retrieve all products where the name contains the word "Cable." </a:t>
            </a:r>
            <a:r>
              <a:rPr lang="en-GB" sz="2000" dirty="0">
                <a:ea typeface="+mn-lt"/>
                <a:cs typeface="+mn-lt"/>
              </a:rPr>
              <a:t> </a:t>
            </a:r>
            <a:endParaRPr lang="en-US" sz="2400" b="1" dirty="0">
              <a:ea typeface="+mn-lt"/>
              <a:cs typeface="+mn-lt"/>
            </a:endParaRPr>
          </a:p>
          <a:p>
            <a:endParaRPr lang="en-GB" sz="2000" b="1" dirty="0"/>
          </a:p>
        </p:txBody>
      </p:sp>
      <p:pic>
        <p:nvPicPr>
          <p:cNvPr id="3" name="Picture 2" descr="A screenshot of a computer code&#10;&#10;AI-generated content may be incorrect.">
            <a:extLst>
              <a:ext uri="{FF2B5EF4-FFF2-40B4-BE49-F238E27FC236}">
                <a16:creationId xmlns:a16="http://schemas.microsoft.com/office/drawing/2014/main" id="{0EFD494D-43E2-9773-4371-C83C85BA67A7}"/>
              </a:ext>
            </a:extLst>
          </p:cNvPr>
          <p:cNvPicPr>
            <a:picLocks noChangeAspect="1"/>
          </p:cNvPicPr>
          <p:nvPr/>
        </p:nvPicPr>
        <p:blipFill>
          <a:blip r:embed="rId3"/>
          <a:stretch>
            <a:fillRect/>
          </a:stretch>
        </p:blipFill>
        <p:spPr>
          <a:xfrm>
            <a:off x="510172" y="1775514"/>
            <a:ext cx="4673989" cy="2139261"/>
          </a:xfrm>
          <a:prstGeom prst="rect">
            <a:avLst/>
          </a:prstGeom>
          <a:ln>
            <a:solidFill>
              <a:schemeClr val="accent3"/>
            </a:solidFill>
            <a:prstDash val="solid"/>
          </a:ln>
        </p:spPr>
      </p:pic>
      <p:pic>
        <p:nvPicPr>
          <p:cNvPr id="5" name="Picture 4" descr="A screenshot of a computer&#10;&#10;AI-generated content may be incorrect.">
            <a:extLst>
              <a:ext uri="{FF2B5EF4-FFF2-40B4-BE49-F238E27FC236}">
                <a16:creationId xmlns:a16="http://schemas.microsoft.com/office/drawing/2014/main" id="{D8C6C063-D624-EF9C-9532-335A2E93EDB0}"/>
              </a:ext>
            </a:extLst>
          </p:cNvPr>
          <p:cNvPicPr>
            <a:picLocks noChangeAspect="1"/>
          </p:cNvPicPr>
          <p:nvPr/>
        </p:nvPicPr>
        <p:blipFill>
          <a:blip r:embed="rId4"/>
          <a:stretch>
            <a:fillRect/>
          </a:stretch>
        </p:blipFill>
        <p:spPr>
          <a:xfrm>
            <a:off x="6053137" y="3686175"/>
            <a:ext cx="4752975" cy="2581275"/>
          </a:xfrm>
          <a:prstGeom prst="rect">
            <a:avLst/>
          </a:prstGeom>
          <a:ln>
            <a:solidFill>
              <a:schemeClr val="accent4"/>
            </a:solidFill>
          </a:ln>
        </p:spPr>
      </p:pic>
      <p:sp>
        <p:nvSpPr>
          <p:cNvPr id="6" name="TextBox 5">
            <a:extLst>
              <a:ext uri="{FF2B5EF4-FFF2-40B4-BE49-F238E27FC236}">
                <a16:creationId xmlns:a16="http://schemas.microsoft.com/office/drawing/2014/main" id="{9D049E69-498B-7CA6-635C-1A5CF68CF71A}"/>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8571B008-62B0-6C15-B337-7D46819B1613}"/>
              </a:ext>
            </a:extLst>
          </p:cNvPr>
          <p:cNvSpPr txBox="1"/>
          <p:nvPr/>
        </p:nvSpPr>
        <p:spPr>
          <a:xfrm>
            <a:off x="6054914" y="1785594"/>
            <a:ext cx="5074520" cy="12122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304 number of products whose name contains word "Cable" in product name. </a:t>
            </a:r>
            <a:endParaRPr lang="en-GB" sz="2400" b="1" dirty="0"/>
          </a:p>
        </p:txBody>
      </p:sp>
      <p:sp>
        <p:nvSpPr>
          <p:cNvPr id="10" name="TextBox 9">
            <a:extLst>
              <a:ext uri="{FF2B5EF4-FFF2-40B4-BE49-F238E27FC236}">
                <a16:creationId xmlns:a16="http://schemas.microsoft.com/office/drawing/2014/main" id="{B09664CD-0C8E-EE07-95EF-CED81E90162E}"/>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2DE87D67-61D7-4F3C-E934-C5CACE72F280}"/>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12" name="Picture 11" descr="A close up of text&#10;&#10;AI-generated content may be incorrect.">
            <a:extLst>
              <a:ext uri="{FF2B5EF4-FFF2-40B4-BE49-F238E27FC236}">
                <a16:creationId xmlns:a16="http://schemas.microsoft.com/office/drawing/2014/main" id="{32D8233F-406F-41C3-7185-AB4F86B41E5C}"/>
              </a:ext>
            </a:extLst>
          </p:cNvPr>
          <p:cNvPicPr>
            <a:picLocks noChangeAspect="1"/>
          </p:cNvPicPr>
          <p:nvPr/>
        </p:nvPicPr>
        <p:blipFill>
          <a:blip r:embed="rId5"/>
          <a:stretch>
            <a:fillRect/>
          </a:stretch>
        </p:blipFill>
        <p:spPr>
          <a:xfrm>
            <a:off x="515829" y="1796202"/>
            <a:ext cx="5038067" cy="2140663"/>
          </a:xfrm>
          <a:prstGeom prst="rect">
            <a:avLst/>
          </a:prstGeom>
          <a:ln>
            <a:solidFill>
              <a:schemeClr val="accent3"/>
            </a:solidFill>
          </a:ln>
        </p:spPr>
      </p:pic>
      <p:pic>
        <p:nvPicPr>
          <p:cNvPr id="14" name="Picture 13" descr="A screenshot of a phone charger&#10;&#10;AI-generated content may be incorrect.">
            <a:extLst>
              <a:ext uri="{FF2B5EF4-FFF2-40B4-BE49-F238E27FC236}">
                <a16:creationId xmlns:a16="http://schemas.microsoft.com/office/drawing/2014/main" id="{61BE0FF2-50BF-519B-1CEB-362A7CB88D40}"/>
              </a:ext>
            </a:extLst>
          </p:cNvPr>
          <p:cNvPicPr>
            <a:picLocks noChangeAspect="1"/>
          </p:cNvPicPr>
          <p:nvPr/>
        </p:nvPicPr>
        <p:blipFill>
          <a:blip r:embed="rId6"/>
          <a:stretch>
            <a:fillRect/>
          </a:stretch>
        </p:blipFill>
        <p:spPr>
          <a:xfrm>
            <a:off x="6033762" y="3686832"/>
            <a:ext cx="5099240" cy="2572981"/>
          </a:xfrm>
          <a:prstGeom prst="rect">
            <a:avLst/>
          </a:prstGeom>
          <a:ln>
            <a:solidFill>
              <a:schemeClr val="accent3"/>
            </a:solidFill>
          </a:ln>
        </p:spPr>
      </p:pic>
    </p:spTree>
    <p:extLst>
      <p:ext uri="{BB962C8B-B14F-4D97-AF65-F5344CB8AC3E}">
        <p14:creationId xmlns:p14="http://schemas.microsoft.com/office/powerpoint/2010/main" val="1728762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18CA-693C-DAE7-E1D5-EC2F2E80E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E421D-C4FE-DF5C-9CE9-2EF8AF90D568}"/>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7EFD8E41-92BD-321E-64E9-75C062DF63AD}"/>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915C763F-8ACF-E4C2-C0C7-94BE88E519EF}"/>
              </a:ext>
            </a:extLst>
          </p:cNvPr>
          <p:cNvSpPr txBox="1"/>
          <p:nvPr/>
        </p:nvSpPr>
        <p:spPr>
          <a:xfrm>
            <a:off x="1777090" y="965934"/>
            <a:ext cx="9794068"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ea typeface="+mn-lt"/>
                <a:cs typeface="+mn-lt"/>
              </a:rPr>
              <a:t>4</a:t>
            </a:r>
            <a:r>
              <a:rPr lang="en-GB" sz="2400" b="1" dirty="0">
                <a:ea typeface="+mn-lt"/>
                <a:cs typeface="+mn-lt"/>
              </a:rPr>
              <a:t>. Display the difference between the average of the actual price and the average of discounted price for each product. </a:t>
            </a:r>
            <a:endParaRPr lang="en-GB" sz="2400" dirty="0">
              <a:ea typeface="+mn-lt"/>
              <a:cs typeface="+mn-lt"/>
            </a:endParaRPr>
          </a:p>
          <a:p>
            <a:endParaRPr lang="en-GB" sz="2400" b="1" dirty="0">
              <a:ea typeface="+mn-lt"/>
              <a:cs typeface="+mn-lt"/>
            </a:endParaRPr>
          </a:p>
          <a:p>
            <a:endParaRPr lang="en-GB" sz="2000" b="1" dirty="0"/>
          </a:p>
        </p:txBody>
      </p:sp>
      <p:sp>
        <p:nvSpPr>
          <p:cNvPr id="6" name="TextBox 5">
            <a:extLst>
              <a:ext uri="{FF2B5EF4-FFF2-40B4-BE49-F238E27FC236}">
                <a16:creationId xmlns:a16="http://schemas.microsoft.com/office/drawing/2014/main" id="{E13E2D1A-75E2-88D2-4097-B2C3234DB540}"/>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10" name="TextBox 9">
            <a:extLst>
              <a:ext uri="{FF2B5EF4-FFF2-40B4-BE49-F238E27FC236}">
                <a16:creationId xmlns:a16="http://schemas.microsoft.com/office/drawing/2014/main" id="{0B314D7E-A71F-8314-35C7-64839EA401D6}"/>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CE7C133F-047C-2749-5591-43993F336608}"/>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9E594658-D83F-0518-0FD1-4D019A8E8BE2}"/>
              </a:ext>
            </a:extLst>
          </p:cNvPr>
          <p:cNvCxnSpPr/>
          <p:nvPr/>
        </p:nvCxnSpPr>
        <p:spPr>
          <a:xfrm flipH="1">
            <a:off x="5228288" y="2546427"/>
            <a:ext cx="753398" cy="24768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14" name="Picture 13" descr="A close-up of a computer screen&#10;&#10;AI-generated content may be incorrect.">
            <a:extLst>
              <a:ext uri="{FF2B5EF4-FFF2-40B4-BE49-F238E27FC236}">
                <a16:creationId xmlns:a16="http://schemas.microsoft.com/office/drawing/2014/main" id="{32F37BDD-3B30-9AB2-8501-D91975E85A6E}"/>
              </a:ext>
            </a:extLst>
          </p:cNvPr>
          <p:cNvPicPr>
            <a:picLocks noChangeAspect="1"/>
          </p:cNvPicPr>
          <p:nvPr/>
        </p:nvPicPr>
        <p:blipFill>
          <a:blip r:embed="rId3"/>
          <a:stretch>
            <a:fillRect/>
          </a:stretch>
        </p:blipFill>
        <p:spPr>
          <a:xfrm>
            <a:off x="569118" y="1940718"/>
            <a:ext cx="7636670" cy="1964533"/>
          </a:xfrm>
          <a:prstGeom prst="rect">
            <a:avLst/>
          </a:prstGeom>
          <a:ln>
            <a:solidFill>
              <a:schemeClr val="accent3"/>
            </a:solidFill>
          </a:ln>
        </p:spPr>
      </p:pic>
      <p:pic>
        <p:nvPicPr>
          <p:cNvPr id="15" name="Picture 14" descr="A screenshot of a computer&#10;&#10;AI-generated content may be incorrect.">
            <a:extLst>
              <a:ext uri="{FF2B5EF4-FFF2-40B4-BE49-F238E27FC236}">
                <a16:creationId xmlns:a16="http://schemas.microsoft.com/office/drawing/2014/main" id="{10E95B36-8C18-BF10-8D39-F92A8FD3A9A9}"/>
              </a:ext>
            </a:extLst>
          </p:cNvPr>
          <p:cNvPicPr>
            <a:picLocks noChangeAspect="1"/>
          </p:cNvPicPr>
          <p:nvPr/>
        </p:nvPicPr>
        <p:blipFill>
          <a:blip r:embed="rId4"/>
          <a:stretch>
            <a:fillRect/>
          </a:stretch>
        </p:blipFill>
        <p:spPr>
          <a:xfrm>
            <a:off x="5938837" y="4107655"/>
            <a:ext cx="5605460" cy="2164557"/>
          </a:xfrm>
          <a:prstGeom prst="rect">
            <a:avLst/>
          </a:prstGeom>
          <a:ln>
            <a:solidFill>
              <a:schemeClr val="accent3"/>
            </a:solidFill>
          </a:ln>
        </p:spPr>
      </p:pic>
    </p:spTree>
    <p:extLst>
      <p:ext uri="{BB962C8B-B14F-4D97-AF65-F5344CB8AC3E}">
        <p14:creationId xmlns:p14="http://schemas.microsoft.com/office/powerpoint/2010/main" val="1827443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FA73-B07B-3FCE-5413-83BC32803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A19ED-3FEC-9BD7-BC82-C8A6B91D2C59}"/>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BA3CEC1F-CF57-C398-4CD0-2121E1C6E825}"/>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3C83FD07-0C91-B186-FBB9-2A3BD3A4082B}"/>
              </a:ext>
            </a:extLst>
          </p:cNvPr>
          <p:cNvSpPr txBox="1"/>
          <p:nvPr/>
        </p:nvSpPr>
        <p:spPr>
          <a:xfrm>
            <a:off x="1777090" y="1001652"/>
            <a:ext cx="982978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5. </a:t>
            </a:r>
            <a:r>
              <a:rPr lang="en-GB" sz="2400" b="1" dirty="0"/>
              <a:t>Query reviews that mention "fast charging" in their content. </a:t>
            </a:r>
            <a:endParaRPr lang="en-GB" sz="2400"/>
          </a:p>
          <a:p>
            <a:endParaRPr lang="en-GB" sz="2000" b="1" dirty="0"/>
          </a:p>
        </p:txBody>
      </p:sp>
      <p:sp>
        <p:nvSpPr>
          <p:cNvPr id="6" name="TextBox 5">
            <a:extLst>
              <a:ext uri="{FF2B5EF4-FFF2-40B4-BE49-F238E27FC236}">
                <a16:creationId xmlns:a16="http://schemas.microsoft.com/office/drawing/2014/main" id="{FB297161-E126-177D-67F4-E8A58E6300AA}"/>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458E3C3B-E458-FB59-627C-C148DAADAF28}"/>
              </a:ext>
            </a:extLst>
          </p:cNvPr>
          <p:cNvSpPr txBox="1"/>
          <p:nvPr/>
        </p:nvSpPr>
        <p:spPr>
          <a:xfrm>
            <a:off x="6019195" y="1714157"/>
            <a:ext cx="506261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157 number of products which have word "fast charging" in review. </a:t>
            </a:r>
            <a:endParaRPr lang="en-GB" sz="2400" b="1" dirty="0"/>
          </a:p>
        </p:txBody>
      </p:sp>
      <p:sp>
        <p:nvSpPr>
          <p:cNvPr id="10" name="TextBox 9">
            <a:extLst>
              <a:ext uri="{FF2B5EF4-FFF2-40B4-BE49-F238E27FC236}">
                <a16:creationId xmlns:a16="http://schemas.microsoft.com/office/drawing/2014/main" id="{B89B2CB2-D09D-9BE5-40F6-9A412BD50F24}"/>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9790F3C6-1FA1-64A2-DA8B-1B1DB4EC68E8}"/>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16" name="Picture 15" descr="A white background with black text&#10;&#10;AI-generated content may be incorrect.">
            <a:extLst>
              <a:ext uri="{FF2B5EF4-FFF2-40B4-BE49-F238E27FC236}">
                <a16:creationId xmlns:a16="http://schemas.microsoft.com/office/drawing/2014/main" id="{0E3A22DD-6DCA-5BC9-6BC4-035828F574B4}"/>
              </a:ext>
            </a:extLst>
          </p:cNvPr>
          <p:cNvPicPr>
            <a:picLocks noChangeAspect="1"/>
          </p:cNvPicPr>
          <p:nvPr/>
        </p:nvPicPr>
        <p:blipFill>
          <a:blip r:embed="rId3"/>
          <a:stretch>
            <a:fillRect/>
          </a:stretch>
        </p:blipFill>
        <p:spPr>
          <a:xfrm>
            <a:off x="571500" y="1726406"/>
            <a:ext cx="4583909" cy="2178844"/>
          </a:xfrm>
          <a:prstGeom prst="rect">
            <a:avLst/>
          </a:prstGeom>
          <a:ln>
            <a:solidFill>
              <a:schemeClr val="accent3"/>
            </a:solidFill>
          </a:ln>
        </p:spPr>
      </p:pic>
      <p:pic>
        <p:nvPicPr>
          <p:cNvPr id="17" name="Picture 16" descr="A screenshot of a text box&#10;&#10;AI-generated content may be incorrect.">
            <a:extLst>
              <a:ext uri="{FF2B5EF4-FFF2-40B4-BE49-F238E27FC236}">
                <a16:creationId xmlns:a16="http://schemas.microsoft.com/office/drawing/2014/main" id="{EBB4DD09-30A9-C393-80A5-1FE2B1A34E77}"/>
              </a:ext>
            </a:extLst>
          </p:cNvPr>
          <p:cNvPicPr>
            <a:picLocks noChangeAspect="1"/>
          </p:cNvPicPr>
          <p:nvPr/>
        </p:nvPicPr>
        <p:blipFill>
          <a:blip r:embed="rId4"/>
          <a:stretch>
            <a:fillRect/>
          </a:stretch>
        </p:blipFill>
        <p:spPr>
          <a:xfrm>
            <a:off x="6024562" y="3905250"/>
            <a:ext cx="5274467" cy="2190750"/>
          </a:xfrm>
          <a:prstGeom prst="rect">
            <a:avLst/>
          </a:prstGeom>
          <a:ln>
            <a:solidFill>
              <a:schemeClr val="accent3"/>
            </a:solidFill>
          </a:ln>
        </p:spPr>
      </p:pic>
    </p:spTree>
    <p:extLst>
      <p:ext uri="{BB962C8B-B14F-4D97-AF65-F5344CB8AC3E}">
        <p14:creationId xmlns:p14="http://schemas.microsoft.com/office/powerpoint/2010/main" val="3804316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49A64-99EB-692C-3E47-8C8D31177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D6BFC-7D51-8E14-5D60-AE7F77FBBCB3}"/>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22754DA2-BDE0-F47D-BFC9-04F86F2414D2}"/>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4D8FAB9F-9E03-9A5B-8D10-9C3362377413}"/>
              </a:ext>
            </a:extLst>
          </p:cNvPr>
          <p:cNvSpPr txBox="1"/>
          <p:nvPr/>
        </p:nvSpPr>
        <p:spPr>
          <a:xfrm>
            <a:off x="1777090" y="965934"/>
            <a:ext cx="994884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6. Identify products with a discount percentage between 20% and  40%.</a:t>
            </a:r>
            <a:r>
              <a:rPr lang="en-GB" sz="2400" dirty="0">
                <a:ea typeface="+mn-lt"/>
                <a:cs typeface="+mn-lt"/>
              </a:rPr>
              <a:t> </a:t>
            </a:r>
            <a:endParaRPr lang="en-US" sz="2400" b="1" dirty="0">
              <a:ea typeface="+mn-lt"/>
              <a:cs typeface="+mn-lt"/>
            </a:endParaRPr>
          </a:p>
          <a:p>
            <a:endParaRPr lang="en-GB" sz="2000" b="1" dirty="0"/>
          </a:p>
        </p:txBody>
      </p:sp>
      <p:sp>
        <p:nvSpPr>
          <p:cNvPr id="6" name="TextBox 5">
            <a:extLst>
              <a:ext uri="{FF2B5EF4-FFF2-40B4-BE49-F238E27FC236}">
                <a16:creationId xmlns:a16="http://schemas.microsoft.com/office/drawing/2014/main" id="{6E2F2CFD-CA16-1126-C6D2-F72514D8815B}"/>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75164EEE-A9C6-3ED4-0953-F746210C8754}"/>
              </a:ext>
            </a:extLst>
          </p:cNvPr>
          <p:cNvSpPr txBox="1"/>
          <p:nvPr/>
        </p:nvSpPr>
        <p:spPr>
          <a:xfrm>
            <a:off x="6031101" y="1952281"/>
            <a:ext cx="526502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a:t>
            </a:r>
            <a:r>
              <a:rPr lang="en-GB" sz="2400" dirty="0">
                <a:ea typeface="+mn-lt"/>
                <a:cs typeface="+mn-lt"/>
              </a:rPr>
              <a:t> </a:t>
            </a:r>
            <a:r>
              <a:rPr lang="en-GB" sz="2400" b="1" dirty="0">
                <a:ea typeface="+mn-lt"/>
                <a:cs typeface="+mn-lt"/>
              </a:rPr>
              <a:t>352 number of products whose discounted percentage is between 20% and 40%. </a:t>
            </a:r>
            <a:endParaRPr lang="en-GB" sz="2400" b="1" dirty="0"/>
          </a:p>
        </p:txBody>
      </p:sp>
      <p:sp>
        <p:nvSpPr>
          <p:cNvPr id="10" name="TextBox 9">
            <a:extLst>
              <a:ext uri="{FF2B5EF4-FFF2-40B4-BE49-F238E27FC236}">
                <a16:creationId xmlns:a16="http://schemas.microsoft.com/office/drawing/2014/main" id="{6D771FB2-1E0A-BF34-A79A-7708290F0D18}"/>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638EB8AC-B58B-4E17-496D-FE4E63D90D98}"/>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12" name="Picture 11" descr="A white background with black text&#10;&#10;AI-generated content may be incorrect.">
            <a:extLst>
              <a:ext uri="{FF2B5EF4-FFF2-40B4-BE49-F238E27FC236}">
                <a16:creationId xmlns:a16="http://schemas.microsoft.com/office/drawing/2014/main" id="{F8C21D40-B00D-6010-A2CF-E277EB845C15}"/>
              </a:ext>
            </a:extLst>
          </p:cNvPr>
          <p:cNvPicPr>
            <a:picLocks noChangeAspect="1"/>
          </p:cNvPicPr>
          <p:nvPr/>
        </p:nvPicPr>
        <p:blipFill>
          <a:blip r:embed="rId3"/>
          <a:stretch>
            <a:fillRect/>
          </a:stretch>
        </p:blipFill>
        <p:spPr>
          <a:xfrm>
            <a:off x="552450" y="1952625"/>
            <a:ext cx="4788694" cy="2190750"/>
          </a:xfrm>
          <a:prstGeom prst="rect">
            <a:avLst/>
          </a:prstGeom>
          <a:ln>
            <a:solidFill>
              <a:schemeClr val="accent3"/>
            </a:solidFill>
          </a:ln>
        </p:spPr>
      </p:pic>
      <p:pic>
        <p:nvPicPr>
          <p:cNvPr id="14" name="Picture 13" descr="A screenshot of a phone list&#10;&#10;AI-generated content may be incorrect.">
            <a:extLst>
              <a:ext uri="{FF2B5EF4-FFF2-40B4-BE49-F238E27FC236}">
                <a16:creationId xmlns:a16="http://schemas.microsoft.com/office/drawing/2014/main" id="{C535FC49-11AC-5385-7601-40EED7C4A567}"/>
              </a:ext>
            </a:extLst>
          </p:cNvPr>
          <p:cNvPicPr>
            <a:picLocks noChangeAspect="1"/>
          </p:cNvPicPr>
          <p:nvPr/>
        </p:nvPicPr>
        <p:blipFill>
          <a:blip r:embed="rId4"/>
          <a:stretch>
            <a:fillRect/>
          </a:stretch>
        </p:blipFill>
        <p:spPr>
          <a:xfrm>
            <a:off x="5886448" y="3905250"/>
            <a:ext cx="5672140" cy="2221706"/>
          </a:xfrm>
          <a:prstGeom prst="rect">
            <a:avLst/>
          </a:prstGeom>
          <a:ln>
            <a:solidFill>
              <a:schemeClr val="accent3"/>
            </a:solidFill>
          </a:ln>
        </p:spPr>
      </p:pic>
    </p:spTree>
    <p:extLst>
      <p:ext uri="{BB962C8B-B14F-4D97-AF65-F5344CB8AC3E}">
        <p14:creationId xmlns:p14="http://schemas.microsoft.com/office/powerpoint/2010/main" val="247523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0DC64-C28B-D2FE-F519-80DEFB004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B384C-5656-BDB4-B73C-7827725C260A}"/>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ECEA440C-AFE3-A5DF-AFBC-1F2903ED85EF}"/>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08AC4D59-AB30-28B9-CB30-35FE8161EB07}"/>
              </a:ext>
            </a:extLst>
          </p:cNvPr>
          <p:cNvSpPr txBox="1"/>
          <p:nvPr/>
        </p:nvSpPr>
        <p:spPr>
          <a:xfrm>
            <a:off x="1777090" y="1001652"/>
            <a:ext cx="9829786"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7. Find products that have an actual price above₹1,000 and are rated 4 stars or above. </a:t>
            </a:r>
            <a:endParaRPr lang="en-GB" sz="2400" dirty="0">
              <a:ea typeface="+mn-lt"/>
              <a:cs typeface="+mn-lt"/>
            </a:endParaRPr>
          </a:p>
          <a:p>
            <a:endParaRPr lang="en-GB" sz="2400" b="1" dirty="0">
              <a:ea typeface="+mn-lt"/>
              <a:cs typeface="+mn-lt"/>
            </a:endParaRPr>
          </a:p>
          <a:p>
            <a:endParaRPr lang="en-GB" sz="2000" b="1" dirty="0"/>
          </a:p>
        </p:txBody>
      </p:sp>
      <p:sp>
        <p:nvSpPr>
          <p:cNvPr id="6" name="TextBox 5">
            <a:extLst>
              <a:ext uri="{FF2B5EF4-FFF2-40B4-BE49-F238E27FC236}">
                <a16:creationId xmlns:a16="http://schemas.microsoft.com/office/drawing/2014/main" id="{51D5CB5D-D2DB-0B9F-70C4-85D338E83620}"/>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531474BD-FA59-316D-CA05-2684FD199040}"/>
              </a:ext>
            </a:extLst>
          </p:cNvPr>
          <p:cNvSpPr txBox="1"/>
          <p:nvPr/>
        </p:nvSpPr>
        <p:spPr>
          <a:xfrm>
            <a:off x="6376381" y="1761782"/>
            <a:ext cx="443158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There are 709 number of products whose actual price is more than ₹1,000 and rating is equal to or more than 4.</a:t>
            </a:r>
            <a:endParaRPr lang="en-US" b="1" dirty="0"/>
          </a:p>
        </p:txBody>
      </p:sp>
      <p:sp>
        <p:nvSpPr>
          <p:cNvPr id="10" name="TextBox 9">
            <a:extLst>
              <a:ext uri="{FF2B5EF4-FFF2-40B4-BE49-F238E27FC236}">
                <a16:creationId xmlns:a16="http://schemas.microsoft.com/office/drawing/2014/main" id="{79C9BB4C-71A1-D6D4-5D4A-3128526231E0}"/>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FC24EC73-62AA-2E35-6EAD-840B1711C5FC}"/>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8" name="Picture 7" descr="A screen shot of a computer&#10;&#10;AI-generated content may be incorrect.">
            <a:extLst>
              <a:ext uri="{FF2B5EF4-FFF2-40B4-BE49-F238E27FC236}">
                <a16:creationId xmlns:a16="http://schemas.microsoft.com/office/drawing/2014/main" id="{FB4BE08F-BABC-5CDD-71D0-E19A61C239D0}"/>
              </a:ext>
            </a:extLst>
          </p:cNvPr>
          <p:cNvPicPr>
            <a:picLocks noChangeAspect="1"/>
          </p:cNvPicPr>
          <p:nvPr/>
        </p:nvPicPr>
        <p:blipFill>
          <a:blip r:embed="rId3"/>
          <a:stretch>
            <a:fillRect/>
          </a:stretch>
        </p:blipFill>
        <p:spPr>
          <a:xfrm>
            <a:off x="533399" y="1945481"/>
            <a:ext cx="5279232" cy="2097882"/>
          </a:xfrm>
          <a:prstGeom prst="rect">
            <a:avLst/>
          </a:prstGeom>
          <a:ln>
            <a:solidFill>
              <a:schemeClr val="accent3"/>
            </a:solidFill>
          </a:ln>
        </p:spPr>
      </p:pic>
      <p:pic>
        <p:nvPicPr>
          <p:cNvPr id="12" name="Picture 11" descr="A screenshot of a computer&#10;&#10;AI-generated content may be incorrect.">
            <a:extLst>
              <a:ext uri="{FF2B5EF4-FFF2-40B4-BE49-F238E27FC236}">
                <a16:creationId xmlns:a16="http://schemas.microsoft.com/office/drawing/2014/main" id="{957B6238-89C5-A3A5-AB25-EB6184BC556E}"/>
              </a:ext>
            </a:extLst>
          </p:cNvPr>
          <p:cNvPicPr>
            <a:picLocks noChangeAspect="1"/>
          </p:cNvPicPr>
          <p:nvPr/>
        </p:nvPicPr>
        <p:blipFill>
          <a:blip r:embed="rId4"/>
          <a:stretch>
            <a:fillRect/>
          </a:stretch>
        </p:blipFill>
        <p:spPr>
          <a:xfrm>
            <a:off x="6022181" y="4017168"/>
            <a:ext cx="4767261" cy="2293144"/>
          </a:xfrm>
          <a:prstGeom prst="rect">
            <a:avLst/>
          </a:prstGeom>
          <a:ln>
            <a:solidFill>
              <a:schemeClr val="accent3"/>
            </a:solidFill>
          </a:ln>
        </p:spPr>
      </p:pic>
    </p:spTree>
    <p:extLst>
      <p:ext uri="{BB962C8B-B14F-4D97-AF65-F5344CB8AC3E}">
        <p14:creationId xmlns:p14="http://schemas.microsoft.com/office/powerpoint/2010/main" val="2201628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139E-83D3-82AA-1E44-7078C8A85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09117-582D-5A86-7CFF-BBE623378712}"/>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A0FE01E6-EFDC-D71B-3A56-A98E436B379E}"/>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FD78BDA9-88DF-DADE-94E0-90F839223227}"/>
              </a:ext>
            </a:extLst>
          </p:cNvPr>
          <p:cNvSpPr txBox="1"/>
          <p:nvPr/>
        </p:nvSpPr>
        <p:spPr>
          <a:xfrm>
            <a:off x="1777090" y="1001652"/>
            <a:ext cx="9829786"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8. Find products where the discounted price ends with a 9 ? </a:t>
            </a:r>
            <a:endParaRPr lang="en-GB" sz="2400" dirty="0">
              <a:ea typeface="+mn-lt"/>
              <a:cs typeface="+mn-lt"/>
            </a:endParaRPr>
          </a:p>
          <a:p>
            <a:endParaRPr lang="en-GB" sz="2400" b="1" dirty="0">
              <a:ea typeface="+mn-lt"/>
              <a:cs typeface="+mn-lt"/>
            </a:endParaRPr>
          </a:p>
          <a:p>
            <a:endParaRPr lang="en-GB" sz="2000" b="1" dirty="0"/>
          </a:p>
        </p:txBody>
      </p:sp>
      <p:sp>
        <p:nvSpPr>
          <p:cNvPr id="6" name="TextBox 5">
            <a:extLst>
              <a:ext uri="{FF2B5EF4-FFF2-40B4-BE49-F238E27FC236}">
                <a16:creationId xmlns:a16="http://schemas.microsoft.com/office/drawing/2014/main" id="{A142D46E-51A2-82DA-5512-F3DF1B1E21C8}"/>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ED24229E-2A13-7010-9089-F14922AD673C}"/>
              </a:ext>
            </a:extLst>
          </p:cNvPr>
          <p:cNvSpPr txBox="1"/>
          <p:nvPr/>
        </p:nvSpPr>
        <p:spPr>
          <a:xfrm>
            <a:off x="6316850" y="1785595"/>
            <a:ext cx="474114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1054 number of products where discounted price ends with "9"</a:t>
            </a:r>
            <a:endParaRPr lang="en-GB" sz="2400" b="1" dirty="0"/>
          </a:p>
        </p:txBody>
      </p:sp>
      <p:sp>
        <p:nvSpPr>
          <p:cNvPr id="10" name="TextBox 9">
            <a:extLst>
              <a:ext uri="{FF2B5EF4-FFF2-40B4-BE49-F238E27FC236}">
                <a16:creationId xmlns:a16="http://schemas.microsoft.com/office/drawing/2014/main" id="{60A49B2B-14AA-4F7D-03FA-4F73336D083C}"/>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6CF68A01-62E2-E16B-AE0F-E9F00BE7A4D9}"/>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12" name="Picture 11" descr="A screenshot of a phone&#10;&#10;AI-generated content may be incorrect.">
            <a:extLst>
              <a:ext uri="{FF2B5EF4-FFF2-40B4-BE49-F238E27FC236}">
                <a16:creationId xmlns:a16="http://schemas.microsoft.com/office/drawing/2014/main" id="{8C7BEE2F-D182-7A3F-CE27-2C68865E9D46}"/>
              </a:ext>
            </a:extLst>
          </p:cNvPr>
          <p:cNvPicPr>
            <a:picLocks noChangeAspect="1"/>
          </p:cNvPicPr>
          <p:nvPr/>
        </p:nvPicPr>
        <p:blipFill>
          <a:blip r:embed="rId3"/>
          <a:stretch>
            <a:fillRect/>
          </a:stretch>
        </p:blipFill>
        <p:spPr>
          <a:xfrm>
            <a:off x="6074569" y="3995737"/>
            <a:ext cx="4936330" cy="2183606"/>
          </a:xfrm>
          <a:prstGeom prst="rect">
            <a:avLst/>
          </a:prstGeom>
          <a:ln>
            <a:solidFill>
              <a:schemeClr val="accent3"/>
            </a:solidFill>
          </a:ln>
        </p:spPr>
      </p:pic>
      <p:pic>
        <p:nvPicPr>
          <p:cNvPr id="14" name="Picture 13" descr="A white background with black text&#10;&#10;AI-generated content may be incorrect.">
            <a:extLst>
              <a:ext uri="{FF2B5EF4-FFF2-40B4-BE49-F238E27FC236}">
                <a16:creationId xmlns:a16="http://schemas.microsoft.com/office/drawing/2014/main" id="{1F978B99-061D-D7C3-734B-467304CBFFE5}"/>
              </a:ext>
            </a:extLst>
          </p:cNvPr>
          <p:cNvPicPr>
            <a:picLocks noChangeAspect="1"/>
          </p:cNvPicPr>
          <p:nvPr/>
        </p:nvPicPr>
        <p:blipFill>
          <a:blip r:embed="rId4"/>
          <a:stretch>
            <a:fillRect/>
          </a:stretch>
        </p:blipFill>
        <p:spPr>
          <a:xfrm>
            <a:off x="402431" y="1778793"/>
            <a:ext cx="4945856" cy="2216944"/>
          </a:xfrm>
          <a:prstGeom prst="rect">
            <a:avLst/>
          </a:prstGeom>
          <a:ln>
            <a:solidFill>
              <a:schemeClr val="accent3"/>
            </a:solidFill>
          </a:ln>
        </p:spPr>
      </p:pic>
    </p:spTree>
    <p:extLst>
      <p:ext uri="{BB962C8B-B14F-4D97-AF65-F5344CB8AC3E}">
        <p14:creationId xmlns:p14="http://schemas.microsoft.com/office/powerpoint/2010/main" val="2168825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A5D1-B5B0-4952-B633-0FD1016F5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7EAAE-9BC2-075C-4C06-BF15497BAA9E}"/>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6288457F-E275-FCCB-C703-0532DE0864D4}"/>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E0CEEF98-0263-A5CD-7B0B-DD05DC84A49F}"/>
              </a:ext>
            </a:extLst>
          </p:cNvPr>
          <p:cNvSpPr txBox="1"/>
          <p:nvPr/>
        </p:nvSpPr>
        <p:spPr>
          <a:xfrm>
            <a:off x="1777090" y="1001652"/>
            <a:ext cx="9829786"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9. Display review contents that contains words like worst, waste, poor, or not good. </a:t>
            </a:r>
            <a:endParaRPr lang="en-GB" sz="2400">
              <a:ea typeface="+mn-lt"/>
              <a:cs typeface="+mn-lt"/>
            </a:endParaRPr>
          </a:p>
          <a:p>
            <a:endParaRPr lang="en-GB" sz="2400" b="1" dirty="0">
              <a:ea typeface="+mn-lt"/>
              <a:cs typeface="+mn-lt"/>
            </a:endParaRPr>
          </a:p>
          <a:p>
            <a:endParaRPr lang="en-GB" sz="2000" b="1" dirty="0"/>
          </a:p>
        </p:txBody>
      </p:sp>
      <p:sp>
        <p:nvSpPr>
          <p:cNvPr id="6" name="TextBox 5">
            <a:extLst>
              <a:ext uri="{FF2B5EF4-FFF2-40B4-BE49-F238E27FC236}">
                <a16:creationId xmlns:a16="http://schemas.microsoft.com/office/drawing/2014/main" id="{F296FBFA-6105-343D-0A81-7EC1E905A87E}"/>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F8BF3B1E-556C-0290-94C7-7326220BAD37}"/>
              </a:ext>
            </a:extLst>
          </p:cNvPr>
          <p:cNvSpPr txBox="1"/>
          <p:nvPr/>
        </p:nvSpPr>
        <p:spPr>
          <a:xfrm>
            <a:off x="6685944" y="1761782"/>
            <a:ext cx="413392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293 number of products whose review contains the following words "worst","waste","poor" and "not good".</a:t>
            </a:r>
            <a:endParaRPr lang="en-GB" sz="2400" b="1"/>
          </a:p>
        </p:txBody>
      </p:sp>
      <p:sp>
        <p:nvSpPr>
          <p:cNvPr id="10" name="TextBox 9">
            <a:extLst>
              <a:ext uri="{FF2B5EF4-FFF2-40B4-BE49-F238E27FC236}">
                <a16:creationId xmlns:a16="http://schemas.microsoft.com/office/drawing/2014/main" id="{5F0BAFEC-F1A1-CA0C-0FFB-33AAFD936523}"/>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2E65DE6F-0336-3F35-F5AE-8978CAE82790}"/>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8" name="Picture 7" descr="A screenshot of a computer&#10;&#10;AI-generated content may be incorrect.">
            <a:extLst>
              <a:ext uri="{FF2B5EF4-FFF2-40B4-BE49-F238E27FC236}">
                <a16:creationId xmlns:a16="http://schemas.microsoft.com/office/drawing/2014/main" id="{22A7CF9D-C4FE-926A-0AAF-FA311D26A9A9}"/>
              </a:ext>
            </a:extLst>
          </p:cNvPr>
          <p:cNvPicPr>
            <a:picLocks noChangeAspect="1"/>
          </p:cNvPicPr>
          <p:nvPr/>
        </p:nvPicPr>
        <p:blipFill>
          <a:blip r:embed="rId3"/>
          <a:stretch>
            <a:fillRect/>
          </a:stretch>
        </p:blipFill>
        <p:spPr>
          <a:xfrm>
            <a:off x="692944" y="2007393"/>
            <a:ext cx="4995863" cy="2235995"/>
          </a:xfrm>
          <a:prstGeom prst="rect">
            <a:avLst/>
          </a:prstGeom>
          <a:ln>
            <a:solidFill>
              <a:schemeClr val="accent3"/>
            </a:solidFill>
          </a:ln>
        </p:spPr>
      </p:pic>
      <p:pic>
        <p:nvPicPr>
          <p:cNvPr id="12" name="Picture 11" descr="A screenshot of a computer&#10;&#10;AI-generated content may be incorrect.">
            <a:extLst>
              <a:ext uri="{FF2B5EF4-FFF2-40B4-BE49-F238E27FC236}">
                <a16:creationId xmlns:a16="http://schemas.microsoft.com/office/drawing/2014/main" id="{F9BFBDAE-281D-4477-DFAE-5EF2FD5423D5}"/>
              </a:ext>
            </a:extLst>
          </p:cNvPr>
          <p:cNvPicPr>
            <a:picLocks noChangeAspect="1"/>
          </p:cNvPicPr>
          <p:nvPr/>
        </p:nvPicPr>
        <p:blipFill>
          <a:blip r:embed="rId4"/>
          <a:stretch>
            <a:fillRect/>
          </a:stretch>
        </p:blipFill>
        <p:spPr>
          <a:xfrm>
            <a:off x="6038851" y="4233862"/>
            <a:ext cx="5414961" cy="2171700"/>
          </a:xfrm>
          <a:prstGeom prst="rect">
            <a:avLst/>
          </a:prstGeom>
          <a:ln>
            <a:solidFill>
              <a:schemeClr val="accent3"/>
            </a:solidFill>
          </a:ln>
        </p:spPr>
      </p:pic>
    </p:spTree>
    <p:extLst>
      <p:ext uri="{BB962C8B-B14F-4D97-AF65-F5344CB8AC3E}">
        <p14:creationId xmlns:p14="http://schemas.microsoft.com/office/powerpoint/2010/main" val="468129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108E6-F6AE-C95C-99EF-F54CFC0A3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8C9E9-959D-F638-CF27-C378F056FA1A}"/>
              </a:ext>
            </a:extLst>
          </p:cNvPr>
          <p:cNvSpPr>
            <a:spLocks noGrp="1"/>
          </p:cNvSpPr>
          <p:nvPr>
            <p:ph type="title"/>
          </p:nvPr>
        </p:nvSpPr>
        <p:spPr>
          <a:xfrm>
            <a:off x="548639" y="950976"/>
            <a:ext cx="10995659" cy="780193"/>
          </a:xfrm>
        </p:spPr>
        <p:txBody>
          <a:bodyPr>
            <a:normAutofit/>
          </a:bodyPr>
          <a:lstStyle/>
          <a:p>
            <a:r>
              <a:rPr lang="en-GB" sz="4800" b="1" dirty="0">
                <a:solidFill>
                  <a:schemeClr val="tx1"/>
                </a:solidFill>
              </a:rPr>
              <a:t>                     </a:t>
            </a:r>
          </a:p>
        </p:txBody>
      </p:sp>
      <p:pic>
        <p:nvPicPr>
          <p:cNvPr id="4" name="Content Placeholder 3" descr="A black and orange logo&#10;&#10;AI-generated content may be incorrect.">
            <a:extLst>
              <a:ext uri="{FF2B5EF4-FFF2-40B4-BE49-F238E27FC236}">
                <a16:creationId xmlns:a16="http://schemas.microsoft.com/office/drawing/2014/main" id="{37A05818-BD35-3ED0-2639-8E6EDEE91C9D}"/>
              </a:ext>
            </a:extLst>
          </p:cNvPr>
          <p:cNvPicPr>
            <a:picLocks noGrp="1" noChangeAspect="1"/>
          </p:cNvPicPr>
          <p:nvPr>
            <p:ph idx="1"/>
          </p:nvPr>
        </p:nvPicPr>
        <p:blipFill>
          <a:blip r:embed="rId2"/>
          <a:stretch>
            <a:fillRect/>
          </a:stretch>
        </p:blipFill>
        <p:spPr>
          <a:xfrm>
            <a:off x="243546" y="950524"/>
            <a:ext cx="1327837" cy="1000395"/>
          </a:xfrm>
          <a:prstGeom prst="rect">
            <a:avLst/>
          </a:prstGeom>
        </p:spPr>
      </p:pic>
      <p:sp>
        <p:nvSpPr>
          <p:cNvPr id="7" name="TextBox 6">
            <a:extLst>
              <a:ext uri="{FF2B5EF4-FFF2-40B4-BE49-F238E27FC236}">
                <a16:creationId xmlns:a16="http://schemas.microsoft.com/office/drawing/2014/main" id="{9B325702-4666-59EF-C6E6-0E053E8048FF}"/>
              </a:ext>
            </a:extLst>
          </p:cNvPr>
          <p:cNvSpPr txBox="1"/>
          <p:nvPr/>
        </p:nvSpPr>
        <p:spPr>
          <a:xfrm>
            <a:off x="1777090" y="1001652"/>
            <a:ext cx="9829786"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10. List all products where the category includes "Accessories."</a:t>
            </a:r>
            <a:endParaRPr lang="en-GB" sz="2400" dirty="0">
              <a:ea typeface="+mn-lt"/>
              <a:cs typeface="+mn-lt"/>
            </a:endParaRPr>
          </a:p>
          <a:p>
            <a:endParaRPr lang="en-GB" sz="2400" b="1" dirty="0">
              <a:ea typeface="+mn-lt"/>
              <a:cs typeface="+mn-lt"/>
            </a:endParaRPr>
          </a:p>
          <a:p>
            <a:endParaRPr lang="en-GB" sz="2000" b="1" dirty="0"/>
          </a:p>
        </p:txBody>
      </p:sp>
      <p:sp>
        <p:nvSpPr>
          <p:cNvPr id="6" name="TextBox 5">
            <a:extLst>
              <a:ext uri="{FF2B5EF4-FFF2-40B4-BE49-F238E27FC236}">
                <a16:creationId xmlns:a16="http://schemas.microsoft.com/office/drawing/2014/main" id="{2ECF5A83-9AC0-2391-0282-F9CEA2AD1001}"/>
              </a:ext>
            </a:extLst>
          </p:cNvPr>
          <p:cNvSpPr txBox="1"/>
          <p:nvPr/>
        </p:nvSpPr>
        <p:spPr>
          <a:xfrm>
            <a:off x="6026509" y="1955088"/>
            <a:ext cx="4776865" cy="1027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1B85577C-FDF0-7C8A-6C92-81AECC8540BD}"/>
              </a:ext>
            </a:extLst>
          </p:cNvPr>
          <p:cNvSpPr txBox="1"/>
          <p:nvPr/>
        </p:nvSpPr>
        <p:spPr>
          <a:xfrm>
            <a:off x="6078726" y="1737970"/>
            <a:ext cx="47292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t> </a:t>
            </a:r>
            <a:r>
              <a:rPr lang="en-GB" sz="2400" b="1" dirty="0">
                <a:ea typeface="+mn-lt"/>
                <a:cs typeface="+mn-lt"/>
              </a:rPr>
              <a:t>There are 890 products which have word "Accessories" in there category.</a:t>
            </a:r>
            <a:endParaRPr lang="en-GB" sz="2400" b="1" dirty="0"/>
          </a:p>
        </p:txBody>
      </p:sp>
      <p:sp>
        <p:nvSpPr>
          <p:cNvPr id="10" name="TextBox 9">
            <a:extLst>
              <a:ext uri="{FF2B5EF4-FFF2-40B4-BE49-F238E27FC236}">
                <a16:creationId xmlns:a16="http://schemas.microsoft.com/office/drawing/2014/main" id="{97AA92A4-455C-7972-9BC4-D033C671669E}"/>
              </a:ext>
            </a:extLst>
          </p:cNvPr>
          <p:cNvSpPr txBox="1"/>
          <p:nvPr/>
        </p:nvSpPr>
        <p:spPr>
          <a:xfrm>
            <a:off x="3975135" y="4611629"/>
            <a:ext cx="12199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b="1" dirty="0"/>
              <a:t>Output</a:t>
            </a:r>
          </a:p>
        </p:txBody>
      </p:sp>
      <p:cxnSp>
        <p:nvCxnSpPr>
          <p:cNvPr id="11" name="Straight Arrow Connector 10">
            <a:extLst>
              <a:ext uri="{FF2B5EF4-FFF2-40B4-BE49-F238E27FC236}">
                <a16:creationId xmlns:a16="http://schemas.microsoft.com/office/drawing/2014/main" id="{4B4159AF-4D53-DF2B-DA0C-E482E4C948C6}"/>
              </a:ext>
            </a:extLst>
          </p:cNvPr>
          <p:cNvCxnSpPr/>
          <p:nvPr/>
        </p:nvCxnSpPr>
        <p:spPr>
          <a:xfrm>
            <a:off x="5159820" y="4756709"/>
            <a:ext cx="745755" cy="40311"/>
          </a:xfrm>
          <a:prstGeom prst="straightConnector1">
            <a:avLst/>
          </a:prstGeom>
          <a:ln>
            <a:solidFill>
              <a:schemeClr val="accent3"/>
            </a:solidFill>
            <a:tailEnd type="triangle"/>
          </a:ln>
        </p:spPr>
        <p:style>
          <a:lnRef idx="3">
            <a:schemeClr val="accent1"/>
          </a:lnRef>
          <a:fillRef idx="0">
            <a:schemeClr val="accent1"/>
          </a:fillRef>
          <a:effectRef idx="2">
            <a:schemeClr val="accent1"/>
          </a:effectRef>
          <a:fontRef idx="minor">
            <a:schemeClr val="tx1"/>
          </a:fontRef>
        </p:style>
      </p:cxnSp>
      <p:pic>
        <p:nvPicPr>
          <p:cNvPr id="8" name="Picture 7" descr="A close-up of words&#10;&#10;AI-generated content may be incorrect.">
            <a:extLst>
              <a:ext uri="{FF2B5EF4-FFF2-40B4-BE49-F238E27FC236}">
                <a16:creationId xmlns:a16="http://schemas.microsoft.com/office/drawing/2014/main" id="{281C63E5-3842-EA19-89F8-53E47D5A064F}"/>
              </a:ext>
            </a:extLst>
          </p:cNvPr>
          <p:cNvPicPr>
            <a:picLocks noChangeAspect="1"/>
          </p:cNvPicPr>
          <p:nvPr/>
        </p:nvPicPr>
        <p:blipFill>
          <a:blip r:embed="rId3"/>
          <a:stretch>
            <a:fillRect/>
          </a:stretch>
        </p:blipFill>
        <p:spPr>
          <a:xfrm>
            <a:off x="411956" y="1724025"/>
            <a:ext cx="5141119" cy="2255044"/>
          </a:xfrm>
          <a:prstGeom prst="rect">
            <a:avLst/>
          </a:prstGeom>
          <a:ln>
            <a:solidFill>
              <a:schemeClr val="accent3"/>
            </a:solidFill>
          </a:ln>
        </p:spPr>
      </p:pic>
      <p:pic>
        <p:nvPicPr>
          <p:cNvPr id="12" name="Picture 11" descr="A screenshot of a computer&#10;&#10;AI-generated content may be incorrect.">
            <a:extLst>
              <a:ext uri="{FF2B5EF4-FFF2-40B4-BE49-F238E27FC236}">
                <a16:creationId xmlns:a16="http://schemas.microsoft.com/office/drawing/2014/main" id="{E4D28F87-23BC-0AA5-3A80-540510BE4C09}"/>
              </a:ext>
            </a:extLst>
          </p:cNvPr>
          <p:cNvPicPr>
            <a:picLocks noChangeAspect="1"/>
          </p:cNvPicPr>
          <p:nvPr/>
        </p:nvPicPr>
        <p:blipFill>
          <a:blip r:embed="rId4"/>
          <a:stretch>
            <a:fillRect/>
          </a:stretch>
        </p:blipFill>
        <p:spPr>
          <a:xfrm>
            <a:off x="6019801" y="3807619"/>
            <a:ext cx="5531643" cy="2209800"/>
          </a:xfrm>
          <a:prstGeom prst="rect">
            <a:avLst/>
          </a:prstGeom>
          <a:ln>
            <a:solidFill>
              <a:schemeClr val="accent3"/>
            </a:solidFill>
          </a:ln>
        </p:spPr>
      </p:pic>
    </p:spTree>
    <p:extLst>
      <p:ext uri="{BB962C8B-B14F-4D97-AF65-F5344CB8AC3E}">
        <p14:creationId xmlns:p14="http://schemas.microsoft.com/office/powerpoint/2010/main" val="461899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368814-7152-A64F-AC5C-78D149E7829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C4637AB-E1B2-BC40-2876-73AC8CA5AA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11196DBB-164D-7687-E390-4949E31711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69E0B9-E333-9100-264F-D70A99543A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sign on a building&#10;&#10;AI-generated content may be incorrect.">
            <a:extLst>
              <a:ext uri="{FF2B5EF4-FFF2-40B4-BE49-F238E27FC236}">
                <a16:creationId xmlns:a16="http://schemas.microsoft.com/office/drawing/2014/main" id="{46AFCF34-3AAE-335C-7F2D-7F5CFDB4C4EC}"/>
              </a:ext>
            </a:extLst>
          </p:cNvPr>
          <p:cNvPicPr>
            <a:picLocks noChangeAspect="1"/>
          </p:cNvPicPr>
          <p:nvPr/>
        </p:nvPicPr>
        <p:blipFill>
          <a:blip r:embed="rId2"/>
          <a:stretch>
            <a:fillRect/>
          </a:stretch>
        </p:blipFill>
        <p:spPr>
          <a:xfrm>
            <a:off x="0" y="-2382"/>
            <a:ext cx="12191999" cy="3398044"/>
          </a:xfrm>
          <a:prstGeom prst="rect">
            <a:avLst/>
          </a:prstGeom>
        </p:spPr>
      </p:pic>
      <p:sp>
        <p:nvSpPr>
          <p:cNvPr id="7" name="TextBox 6">
            <a:extLst>
              <a:ext uri="{FF2B5EF4-FFF2-40B4-BE49-F238E27FC236}">
                <a16:creationId xmlns:a16="http://schemas.microsoft.com/office/drawing/2014/main" id="{554D4E05-5E40-B2B6-D4B7-8F8A04C44B29}"/>
              </a:ext>
            </a:extLst>
          </p:cNvPr>
          <p:cNvSpPr txBox="1"/>
          <p:nvPr/>
        </p:nvSpPr>
        <p:spPr>
          <a:xfrm>
            <a:off x="3446599" y="4071421"/>
            <a:ext cx="528075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dirty="0"/>
              <a:t>    Thank You </a:t>
            </a:r>
          </a:p>
        </p:txBody>
      </p:sp>
    </p:spTree>
    <p:extLst>
      <p:ext uri="{BB962C8B-B14F-4D97-AF65-F5344CB8AC3E}">
        <p14:creationId xmlns:p14="http://schemas.microsoft.com/office/powerpoint/2010/main" val="1464445137"/>
      </p:ext>
    </p:extLst>
  </p:cSld>
  <p:clrMapOvr>
    <a:masterClrMapping/>
  </p:clrMapOvr>
</p:sld>
</file>

<file path=ppt/theme/theme1.xml><?xml version="1.0" encoding="utf-8"?>
<a:theme xmlns:a="http://schemas.openxmlformats.org/drawingml/2006/main" name="TribuneVTI">
  <a:themeElements>
    <a:clrScheme name="amasis">
      <a:dk1>
        <a:sysClr val="windowText" lastClr="000000"/>
      </a:dk1>
      <a:lt1>
        <a:sysClr val="window" lastClr="FFFFFF"/>
      </a:lt1>
      <a:dk2>
        <a:srgbClr val="470401"/>
      </a:dk2>
      <a:lt2>
        <a:srgbClr val="EBE2E2"/>
      </a:lt2>
      <a:accent1>
        <a:srgbClr val="BD1209"/>
      </a:accent1>
      <a:accent2>
        <a:srgbClr val="F40600"/>
      </a:accent2>
      <a:accent3>
        <a:srgbClr val="F26216"/>
      </a:accent3>
      <a:accent4>
        <a:srgbClr val="F0800D"/>
      </a:accent4>
      <a:accent5>
        <a:srgbClr val="3EA8B6"/>
      </a:accent5>
      <a:accent6>
        <a:srgbClr val="005B6B"/>
      </a:accent6>
      <a:hlink>
        <a:srgbClr val="F40600"/>
      </a:hlink>
      <a:folHlink>
        <a:srgbClr val="1C7E8E"/>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TribuneVTI</vt:lpstr>
      <vt:lpstr>   Amazon </vt:lpstr>
      <vt:lpstr>                        Objective</vt:lpstr>
      <vt:lpstr>                     Problem Statement</vt:lpstr>
      <vt:lpstr>                     Dataset </vt:lpstr>
      <vt:lpstr>                     </vt:lpstr>
      <vt:lpstr>                     </vt:lpstr>
      <vt:lpstr>                     </vt:lpstr>
      <vt:lpstr>                     </vt:lpstr>
      <vt:lpstr>                     </vt:lpstr>
      <vt:lpstr>                     </vt:lpstr>
      <vt:lpstr>                     </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498</cp:revision>
  <dcterms:created xsi:type="dcterms:W3CDTF">2026-01-25T14:40:22Z</dcterms:created>
  <dcterms:modified xsi:type="dcterms:W3CDTF">2026-01-25T17:27:24Z</dcterms:modified>
</cp:coreProperties>
</file>